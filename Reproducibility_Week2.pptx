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58473-F89F-30D4-B150-68787128E901}" v="924" dt="2026-01-27T15:38:15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54287-EB8F-49E8-AFEF-3944B2204282}" type="datetimeFigureOut"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20D57-87EB-44EA-A4F7-9331F1211A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1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Posit one hypothesis- reproducibility can help answer this.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0D57-87EB-44EA-A4F7-9331F1211A8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4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3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6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9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2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6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3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6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8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8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3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44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AF84D5-4F3A-40FA-B23D-CF51020D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23" r="9085" b="25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/>
              <a:t>Reproducibility Week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1800"/>
              <a:t>Is there really a replication crisis?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8FC9-FC34-A8FE-EC05-DCE2E343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Goodman et al., 2016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D5B4-264D-AFD5-6D02-122B46721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8592"/>
            <a:ext cx="10691265" cy="427329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“</a:t>
            </a:r>
            <a:r>
              <a:rPr lang="en-US" b="1" dirty="0">
                <a:ea typeface="+mn-lt"/>
                <a:cs typeface="+mn-lt"/>
              </a:rPr>
              <a:t>reproducibility</a:t>
            </a:r>
            <a:r>
              <a:rPr lang="en-US" dirty="0">
                <a:ea typeface="+mn-lt"/>
                <a:cs typeface="+mn-lt"/>
              </a:rPr>
              <a:t> refers to the ability of a researcher to duplicate the results of a prior study using the same materials as were used by the original investigator." (p 1).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Does not add new evidential weight, but may add more subjective weight </a:t>
            </a:r>
          </a:p>
          <a:p>
            <a:r>
              <a:rPr lang="en-US" b="1" dirty="0">
                <a:ea typeface="+mn-lt"/>
                <a:cs typeface="+mn-lt"/>
              </a:rPr>
              <a:t>Methods reproducibility </a:t>
            </a:r>
            <a:r>
              <a:rPr lang="en-US" dirty="0">
                <a:ea typeface="+mn-lt"/>
                <a:cs typeface="+mn-lt"/>
              </a:rPr>
              <a:t>means providing "enough detail about study procedures and data so the same procedures could, in theory or in actuality, be exactly repeated" (p 2).</a:t>
            </a:r>
          </a:p>
          <a:p>
            <a:r>
              <a:rPr lang="en-US" b="1" dirty="0">
                <a:ea typeface="+mn-lt"/>
                <a:cs typeface="+mn-lt"/>
              </a:rPr>
              <a:t>Results reproducibility </a:t>
            </a:r>
            <a:r>
              <a:rPr lang="en-US" dirty="0">
                <a:ea typeface="+mn-lt"/>
                <a:cs typeface="+mn-lt"/>
              </a:rPr>
              <a:t>is "obtaining the same results from the conduct of an independent study whose procedures are as closely matched 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to the original experiment as possible" (p 2-3).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"</a:t>
            </a:r>
            <a:r>
              <a:rPr lang="en-US" b="1" dirty="0">
                <a:highlight>
                  <a:srgbClr val="FFFFFF"/>
                </a:highlight>
                <a:ea typeface="+mn-lt"/>
                <a:cs typeface="+mn-lt"/>
              </a:rPr>
              <a:t>Robustness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refers to the stability of experimental conclusions to variations in either baseline assumptions or experimental procedures." (p 4).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"</a:t>
            </a:r>
            <a:r>
              <a:rPr lang="en-US" b="1" dirty="0">
                <a:highlight>
                  <a:srgbClr val="FFFFFF"/>
                </a:highlight>
                <a:ea typeface="+mn-lt"/>
                <a:cs typeface="+mn-lt"/>
              </a:rPr>
              <a:t>Generalizability</a:t>
            </a:r>
            <a:r>
              <a:rPr lang="en-US" dirty="0">
                <a:highlight>
                  <a:srgbClr val="FFFFFF"/>
                </a:highlight>
                <a:ea typeface="+mn-lt"/>
                <a:cs typeface="+mn-lt"/>
              </a:rPr>
              <a:t> (...transportability), which refers to the persistence of an effect in settings different from and outside of an experimental framework" (p 4).</a:t>
            </a:r>
          </a:p>
          <a:p>
            <a:r>
              <a:rPr lang="en-US" b="1" dirty="0">
                <a:ea typeface="+mn-lt"/>
                <a:cs typeface="+mn-lt"/>
              </a:rPr>
              <a:t>Inferential reproducibility </a:t>
            </a:r>
            <a:r>
              <a:rPr lang="en-US" dirty="0">
                <a:ea typeface="+mn-lt"/>
                <a:cs typeface="+mn-lt"/>
              </a:rPr>
              <a:t>is "the drawing of qualitatively similar conclusions from either an independent replication of a study or a reanalysis of the original study" (p 4).</a:t>
            </a:r>
          </a:p>
        </p:txBody>
      </p:sp>
    </p:spTree>
    <p:extLst>
      <p:ext uri="{BB962C8B-B14F-4D97-AF65-F5344CB8AC3E}">
        <p14:creationId xmlns:p14="http://schemas.microsoft.com/office/powerpoint/2010/main" val="407809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8254-2CEB-B900-7FD6-ECBA0682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Baker &amp; Penny, 2016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0687A8-3105-E6AF-7ABF-BD3E58FFF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7417" y="807896"/>
            <a:ext cx="5243776" cy="52345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BFA32E-1FF8-DFC0-7B3A-75F3AF28A6B8}"/>
              </a:ext>
            </a:extLst>
          </p:cNvPr>
          <p:cNvSpPr txBox="1"/>
          <p:nvPr/>
        </p:nvSpPr>
        <p:spPr>
          <a:xfrm>
            <a:off x="1128346" y="1934307"/>
            <a:ext cx="436684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authors highlight two main responses from the survey about contributing factors to the reproducibility crisis: pressure to publish and selective reporting.</a:t>
            </a:r>
          </a:p>
          <a:p>
            <a:endParaRPr lang="en-US" dirty="0"/>
          </a:p>
          <a:p>
            <a:r>
              <a:rPr lang="en-US" dirty="0"/>
              <a:t>Together, </a:t>
            </a:r>
            <a:r>
              <a:rPr lang="en-US" b="1" dirty="0"/>
              <a:t>briefly talk through these responses</a:t>
            </a:r>
            <a:r>
              <a:rPr lang="en-US" dirty="0"/>
              <a:t>. Do you think that they key issues here are, in fact, selective reporting and pressure to publish, or are other potential problems even more important? </a:t>
            </a:r>
          </a:p>
        </p:txBody>
      </p:sp>
    </p:spTree>
    <p:extLst>
      <p:ext uri="{BB962C8B-B14F-4D97-AF65-F5344CB8AC3E}">
        <p14:creationId xmlns:p14="http://schemas.microsoft.com/office/powerpoint/2010/main" val="359145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457C-0BA0-0134-74E1-034A99F9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Ioannidis, 2016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5D67E-0EE9-75EA-DB46-7AFE474DB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77223"/>
            <a:ext cx="10691265" cy="438466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"Corollary 1: The smaller the studies conducted in a scientific field, the less likely the research findings are to be true." (p 0697)</a:t>
            </a:r>
          </a:p>
          <a:p>
            <a:r>
              <a:rPr lang="en-US" dirty="0">
                <a:ea typeface="+mn-lt"/>
                <a:cs typeface="+mn-lt"/>
              </a:rPr>
              <a:t>"Corollary 2: The smaller the effect sizes in a scientific field, the less likely the research findings are to be true." (p 0697)</a:t>
            </a:r>
          </a:p>
          <a:p>
            <a:r>
              <a:rPr lang="en-US" dirty="0">
                <a:ea typeface="+mn-lt"/>
                <a:cs typeface="+mn-lt"/>
              </a:rPr>
              <a:t>"Corollary 3: The greater the number and the lesser the selection of tested relationships in a scientific field, the less likely the research findings are to be true." (p 0698)</a:t>
            </a:r>
          </a:p>
          <a:p>
            <a:r>
              <a:rPr lang="en-US" dirty="0">
                <a:ea typeface="+mn-lt"/>
                <a:cs typeface="+mn-lt"/>
              </a:rPr>
              <a:t>"Corollary 4: The greater the flexibility in designs, definitions, outcomes, and analytical modes in a scientific field, the less likely the research findings are to be true." (p 0698)</a:t>
            </a:r>
          </a:p>
          <a:p>
            <a:r>
              <a:rPr lang="en-US" dirty="0">
                <a:ea typeface="+mn-lt"/>
                <a:cs typeface="+mn-lt"/>
              </a:rPr>
              <a:t>"Corollary 5: The greater the financial and other interests and prejudices in a scientific field, the less likely the research findings are to be true." (p 0698)</a:t>
            </a:r>
          </a:p>
          <a:p>
            <a:r>
              <a:rPr lang="en-US" dirty="0">
                <a:ea typeface="+mn-lt"/>
                <a:cs typeface="+mn-lt"/>
              </a:rPr>
              <a:t>"Corollary 6: The hotter a scientific field (with more scientific teams involved), the less likely the research findings are to be true." (p 0698). </a:t>
            </a:r>
          </a:p>
          <a:p>
            <a:r>
              <a:rPr lang="en-US" b="1" dirty="0">
                <a:ea typeface="+mn-lt"/>
                <a:cs typeface="+mn-lt"/>
              </a:rPr>
              <a:t>"A major problem is that it is impossible to know with 100% certainty what the truth is in any research question."</a:t>
            </a:r>
          </a:p>
        </p:txBody>
      </p:sp>
    </p:spTree>
    <p:extLst>
      <p:ext uri="{BB962C8B-B14F-4D97-AF65-F5344CB8AC3E}">
        <p14:creationId xmlns:p14="http://schemas.microsoft.com/office/powerpoint/2010/main" val="203213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49DB1-44DA-711D-A789-EB3143E1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7FE0E6-748C-988D-C96D-22EC0D71D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4E0B32-E7A5-BE63-73B8-F2CECD7A6A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23" r="9085" b="25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6CFE5FE-5353-71AD-A9BF-A9037ED04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8DF9B-C87E-BEC8-2B5B-624EB0E48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163" y="5691561"/>
            <a:ext cx="11980638" cy="958655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ctr"/>
            <a:r>
              <a:rPr lang="en-US" sz="3600" dirty="0"/>
              <a:t>Epistemic Struggle: </a:t>
            </a:r>
            <a:br>
              <a:rPr lang="en-US" sz="3600" dirty="0"/>
            </a:br>
            <a:r>
              <a:rPr lang="en-US" sz="3600"/>
              <a:t>What is True in science? How do we </a:t>
            </a:r>
            <a:r>
              <a:rPr lang="en-US" sz="3600" dirty="0"/>
              <a:t>know?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54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Reproducibility Week 2</vt:lpstr>
      <vt:lpstr>Goodman et al., 2016</vt:lpstr>
      <vt:lpstr>Baker &amp; Penny, 2016</vt:lpstr>
      <vt:lpstr>Ioannidis, 2016</vt:lpstr>
      <vt:lpstr>Epistemic Struggle:  What is True in science? How do we know?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146</cp:revision>
  <dcterms:created xsi:type="dcterms:W3CDTF">2026-01-26T15:19:20Z</dcterms:created>
  <dcterms:modified xsi:type="dcterms:W3CDTF">2026-01-27T15:38:21Z</dcterms:modified>
</cp:coreProperties>
</file>