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9" r:id="rId2"/>
    <p:sldId id="256" r:id="rId3"/>
    <p:sldId id="257" r:id="rId4"/>
    <p:sldId id="258"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43"/>
  </p:normalViewPr>
  <p:slideViewPr>
    <p:cSldViewPr snapToGrid="0">
      <p:cViewPr varScale="1">
        <p:scale>
          <a:sx n="110" d="100"/>
          <a:sy n="110" d="100"/>
        </p:scale>
        <p:origin x="7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2/24/26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2/24/26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6sfGSdTdMH0?feature=oembe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7067-F97B-9ABE-09C3-D69E2E4CBD6B}"/>
              </a:ext>
            </a:extLst>
          </p:cNvPr>
          <p:cNvSpPr>
            <a:spLocks noGrp="1"/>
          </p:cNvSpPr>
          <p:nvPr>
            <p:ph type="title"/>
          </p:nvPr>
        </p:nvSpPr>
        <p:spPr/>
        <p:txBody>
          <a:bodyPr/>
          <a:lstStyle/>
          <a:p>
            <a:endParaRPr lang="en-US"/>
          </a:p>
        </p:txBody>
      </p:sp>
      <p:pic>
        <p:nvPicPr>
          <p:cNvPr id="4" name="Online Media 3" descr="Hot Potato - The Wiggles 🔥🥔 Kids Songs &amp; Nursery Rhymes #OGWiggles">
            <a:hlinkClick r:id="" action="ppaction://media"/>
            <a:extLst>
              <a:ext uri="{FF2B5EF4-FFF2-40B4-BE49-F238E27FC236}">
                <a16:creationId xmlns:a16="http://schemas.microsoft.com/office/drawing/2014/main" id="{1F1C85C4-5C0D-1B31-3BB3-AC393EAA65C5}"/>
              </a:ext>
            </a:extLst>
          </p:cNvPr>
          <p:cNvPicPr>
            <a:picLocks noGrp="1" noRot="1" noChangeAspect="1"/>
          </p:cNvPicPr>
          <p:nvPr>
            <p:ph idx="1"/>
            <a:videoFile r:link="rId1"/>
          </p:nvPr>
        </p:nvPicPr>
        <p:blipFill>
          <a:blip r:embed="rId3"/>
          <a:stretch>
            <a:fillRect/>
          </a:stretch>
        </p:blipFill>
        <p:spPr>
          <a:xfrm>
            <a:off x="3200400" y="2016125"/>
            <a:ext cx="6105525" cy="3449638"/>
          </a:xfrm>
          <a:prstGeom prst="rect">
            <a:avLst/>
          </a:prstGeom>
        </p:spPr>
      </p:pic>
    </p:spTree>
    <p:extLst>
      <p:ext uri="{BB962C8B-B14F-4D97-AF65-F5344CB8AC3E}">
        <p14:creationId xmlns:p14="http://schemas.microsoft.com/office/powerpoint/2010/main" val="242803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E7468-88F3-04A9-E25F-0D9A251EB96A}"/>
              </a:ext>
            </a:extLst>
          </p:cNvPr>
          <p:cNvSpPr>
            <a:spLocks noGrp="1"/>
          </p:cNvSpPr>
          <p:nvPr>
            <p:ph type="ctrTitle"/>
          </p:nvPr>
        </p:nvSpPr>
        <p:spPr/>
        <p:txBody>
          <a:bodyPr>
            <a:normAutofit/>
          </a:bodyPr>
          <a:lstStyle/>
          <a:p>
            <a:r>
              <a:rPr lang="en-US" sz="4800" dirty="0"/>
              <a:t>Researcher Degrees of Freedom and P-Hacking</a:t>
            </a:r>
          </a:p>
        </p:txBody>
      </p:sp>
      <p:sp>
        <p:nvSpPr>
          <p:cNvPr id="3" name="Subtitle 2">
            <a:extLst>
              <a:ext uri="{FF2B5EF4-FFF2-40B4-BE49-F238E27FC236}">
                <a16:creationId xmlns:a16="http://schemas.microsoft.com/office/drawing/2014/main" id="{21678F43-6E79-F413-CAC6-4BA1CFB2DB04}"/>
              </a:ext>
            </a:extLst>
          </p:cNvPr>
          <p:cNvSpPr>
            <a:spLocks noGrp="1"/>
          </p:cNvSpPr>
          <p:nvPr>
            <p:ph type="subTitle" idx="1"/>
          </p:nvPr>
        </p:nvSpPr>
        <p:spPr/>
        <p:txBody>
          <a:bodyPr/>
          <a:lstStyle/>
          <a:p>
            <a:r>
              <a:rPr lang="en-US" dirty="0"/>
              <a:t>Two of my least favorite parts of science…</a:t>
            </a:r>
          </a:p>
        </p:txBody>
      </p:sp>
    </p:spTree>
    <p:extLst>
      <p:ext uri="{BB962C8B-B14F-4D97-AF65-F5344CB8AC3E}">
        <p14:creationId xmlns:p14="http://schemas.microsoft.com/office/powerpoint/2010/main" val="280847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E8189-8771-D6AC-6277-F4D88A2E1AF5}"/>
              </a:ext>
            </a:extLst>
          </p:cNvPr>
          <p:cNvSpPr>
            <a:spLocks noGrp="1"/>
          </p:cNvSpPr>
          <p:nvPr>
            <p:ph type="title"/>
          </p:nvPr>
        </p:nvSpPr>
        <p:spPr/>
        <p:txBody>
          <a:bodyPr/>
          <a:lstStyle/>
          <a:p>
            <a:r>
              <a:rPr lang="en-US" dirty="0"/>
              <a:t>What really are “Researcher Degrees of Freedom?”</a:t>
            </a:r>
          </a:p>
        </p:txBody>
      </p:sp>
      <p:sp>
        <p:nvSpPr>
          <p:cNvPr id="3" name="Content Placeholder 2">
            <a:extLst>
              <a:ext uri="{FF2B5EF4-FFF2-40B4-BE49-F238E27FC236}">
                <a16:creationId xmlns:a16="http://schemas.microsoft.com/office/drawing/2014/main" id="{76E2EB5C-DAF1-E1E8-FDB4-CCBCF3548207}"/>
              </a:ext>
            </a:extLst>
          </p:cNvPr>
          <p:cNvSpPr>
            <a:spLocks noGrp="1"/>
          </p:cNvSpPr>
          <p:nvPr>
            <p:ph idx="1"/>
          </p:nvPr>
        </p:nvSpPr>
        <p:spPr/>
        <p:txBody>
          <a:bodyPr>
            <a:normAutofit/>
          </a:bodyPr>
          <a:lstStyle/>
          <a:p>
            <a:r>
              <a:rPr lang="en-US" sz="1600" dirty="0"/>
              <a:t>Simmons et. al., really paint researcher degrees of freedom as a risky business, I think, by highlighting that these are not all decisions that can be made beforehand and that it is a “</a:t>
            </a:r>
            <a:r>
              <a:rPr lang="en-US" sz="1600" b="0" i="0" u="none" strike="noStrike" dirty="0">
                <a:effectLst/>
              </a:rPr>
              <a:t>common (and accepted practice) for researchers to explore various analytic alternatives, to search for a combination that yields </a:t>
            </a:r>
            <a:r>
              <a:rPr lang="en-US" sz="1600" dirty="0"/>
              <a:t>‘</a:t>
            </a:r>
            <a:r>
              <a:rPr lang="en-US" sz="1600" b="0" i="0" u="none" strike="noStrike" dirty="0">
                <a:effectLst/>
              </a:rPr>
              <a:t>statistical significance,’ and to then report only what ‘worked.’” (p 1359)</a:t>
            </a:r>
          </a:p>
          <a:p>
            <a:r>
              <a:rPr lang="en-US" sz="1600" dirty="0"/>
              <a:t>Both papers make points about data exclusion– let’s talk about that as a researcher degree of freedom that all of us engage in and likely we don’t always report all of the ways we decided in incredible detail. Who excludes data? How? For what? How do you report it? </a:t>
            </a:r>
          </a:p>
          <a:p>
            <a:r>
              <a:rPr lang="en-US" sz="1600" dirty="0"/>
              <a:t>In the Gellman and </a:t>
            </a:r>
            <a:r>
              <a:rPr lang="en-US" sz="1600" dirty="0" err="1"/>
              <a:t>Loken</a:t>
            </a:r>
            <a:r>
              <a:rPr lang="en-US" sz="1600" dirty="0"/>
              <a:t> paper, they tough on the researcher degrees of freedom involved in measurement- in deciding which measurements, how to give them, etc. This is something inescapable in our lines of work, so how are people handling these choices? Is “following the literature” enough? </a:t>
            </a:r>
          </a:p>
        </p:txBody>
      </p:sp>
      <p:pic>
        <p:nvPicPr>
          <p:cNvPr id="4" name="Picture 3" descr="A white paper with black text&#10;&#10;Description automatically generated">
            <a:extLst>
              <a:ext uri="{FF2B5EF4-FFF2-40B4-BE49-F238E27FC236}">
                <a16:creationId xmlns:a16="http://schemas.microsoft.com/office/drawing/2014/main" id="{469693BC-14CB-6EE4-BAC5-42BA64E6C4F4}"/>
              </a:ext>
            </a:extLst>
          </p:cNvPr>
          <p:cNvPicPr>
            <a:picLocks noChangeAspect="1"/>
          </p:cNvPicPr>
          <p:nvPr/>
        </p:nvPicPr>
        <p:blipFill>
          <a:blip r:embed="rId2"/>
          <a:stretch>
            <a:fillRect/>
          </a:stretch>
        </p:blipFill>
        <p:spPr>
          <a:xfrm>
            <a:off x="8928384" y="4177295"/>
            <a:ext cx="3060700" cy="2578100"/>
          </a:xfrm>
          <a:prstGeom prst="rect">
            <a:avLst/>
          </a:prstGeom>
        </p:spPr>
      </p:pic>
    </p:spTree>
    <p:extLst>
      <p:ext uri="{BB962C8B-B14F-4D97-AF65-F5344CB8AC3E}">
        <p14:creationId xmlns:p14="http://schemas.microsoft.com/office/powerpoint/2010/main" val="272935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document&#10;&#10;Description automatically generated">
            <a:extLst>
              <a:ext uri="{FF2B5EF4-FFF2-40B4-BE49-F238E27FC236}">
                <a16:creationId xmlns:a16="http://schemas.microsoft.com/office/drawing/2014/main" id="{943283F8-F8FA-BF5F-E5C1-39774AFA3088}"/>
              </a:ext>
            </a:extLst>
          </p:cNvPr>
          <p:cNvPicPr>
            <a:picLocks noGrp="1" noChangeAspect="1"/>
          </p:cNvPicPr>
          <p:nvPr>
            <p:ph idx="1"/>
          </p:nvPr>
        </p:nvPicPr>
        <p:blipFill>
          <a:blip r:embed="rId2"/>
          <a:stretch>
            <a:fillRect/>
          </a:stretch>
        </p:blipFill>
        <p:spPr>
          <a:xfrm>
            <a:off x="3535065" y="299262"/>
            <a:ext cx="5713107" cy="5846818"/>
          </a:xfrm>
        </p:spPr>
      </p:pic>
    </p:spTree>
    <p:extLst>
      <p:ext uri="{BB962C8B-B14F-4D97-AF65-F5344CB8AC3E}">
        <p14:creationId xmlns:p14="http://schemas.microsoft.com/office/powerpoint/2010/main" val="3279928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9AC25-D96C-9D3F-3D99-768D1DE01211}"/>
              </a:ext>
            </a:extLst>
          </p:cNvPr>
          <p:cNvSpPr>
            <a:spLocks noGrp="1"/>
          </p:cNvSpPr>
          <p:nvPr>
            <p:ph type="title"/>
          </p:nvPr>
        </p:nvSpPr>
        <p:spPr>
          <a:xfrm>
            <a:off x="1451579" y="1296365"/>
            <a:ext cx="9603275" cy="557389"/>
          </a:xfrm>
        </p:spPr>
        <p:txBody>
          <a:bodyPr/>
          <a:lstStyle/>
          <a:p>
            <a:r>
              <a:rPr lang="en-US" dirty="0"/>
              <a:t>Defining p-Hacking</a:t>
            </a:r>
          </a:p>
        </p:txBody>
      </p:sp>
      <p:sp>
        <p:nvSpPr>
          <p:cNvPr id="3" name="Content Placeholder 2">
            <a:extLst>
              <a:ext uri="{FF2B5EF4-FFF2-40B4-BE49-F238E27FC236}">
                <a16:creationId xmlns:a16="http://schemas.microsoft.com/office/drawing/2014/main" id="{02BB8410-688D-6CF4-90FD-66040FF44260}"/>
              </a:ext>
            </a:extLst>
          </p:cNvPr>
          <p:cNvSpPr>
            <a:spLocks noGrp="1"/>
          </p:cNvSpPr>
          <p:nvPr>
            <p:ph idx="1"/>
          </p:nvPr>
        </p:nvSpPr>
        <p:spPr/>
        <p:txBody>
          <a:bodyPr/>
          <a:lstStyle/>
          <a:p>
            <a:r>
              <a:rPr lang="en-US" b="0" i="0" u="none" strike="noStrike" dirty="0">
                <a:effectLst/>
              </a:rPr>
              <a:t>“If these decisions are not made in advance but rather are made as the data are being analyzed, then researchers may make them in ways that self-servingly increase their odds of publishing (</a:t>
            </a:r>
            <a:r>
              <a:rPr lang="en-US" b="0" i="0" u="none" strike="noStrike" dirty="0" err="1">
                <a:effectLst/>
              </a:rPr>
              <a:t>Kunda</a:t>
            </a:r>
            <a:r>
              <a:rPr lang="en-US" b="0" i="0" u="none" strike="noStrike" dirty="0">
                <a:effectLst/>
              </a:rPr>
              <a:t>, 1990). Thus, rather than placing entire studies in the file-drawer, researchers may file merely the subsets of analyses that produce nonsignificant results” (</a:t>
            </a:r>
            <a:r>
              <a:rPr lang="en-US" b="0" i="0" u="none" strike="noStrike" dirty="0" err="1">
                <a:effectLst/>
              </a:rPr>
              <a:t>Simonsohn</a:t>
            </a:r>
            <a:r>
              <a:rPr lang="en-US" b="0" i="0" u="none" strike="noStrike" dirty="0">
                <a:effectLst/>
              </a:rPr>
              <a:t> et al., 2014, </a:t>
            </a:r>
            <a:r>
              <a:rPr lang="en-US" b="0" i="0" u="none" strike="noStrike" dirty="0" err="1">
                <a:effectLst/>
              </a:rPr>
              <a:t>pg</a:t>
            </a:r>
            <a:r>
              <a:rPr lang="en-US" b="0" i="0" u="none" strike="noStrike" dirty="0">
                <a:effectLst/>
              </a:rPr>
              <a:t> 534)</a:t>
            </a:r>
          </a:p>
          <a:p>
            <a:endParaRPr lang="en-US" dirty="0"/>
          </a:p>
          <a:p>
            <a:r>
              <a:rPr lang="en-US" dirty="0"/>
              <a:t>What are the parameters? Do we all p-hack all the time? How do we hold ourselves to higher standards when it comes to pre-planning all analyses?</a:t>
            </a:r>
          </a:p>
        </p:txBody>
      </p:sp>
    </p:spTree>
    <p:extLst>
      <p:ext uri="{BB962C8B-B14F-4D97-AF65-F5344CB8AC3E}">
        <p14:creationId xmlns:p14="http://schemas.microsoft.com/office/powerpoint/2010/main" val="217166024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614</TotalTime>
  <Words>315</Words>
  <Application>Microsoft Macintosh PowerPoint</Application>
  <PresentationFormat>Widescreen</PresentationFormat>
  <Paragraphs>10</Paragraphs>
  <Slides>5</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Gill Sans MT</vt:lpstr>
      <vt:lpstr>Gallery</vt:lpstr>
      <vt:lpstr>PowerPoint Presentation</vt:lpstr>
      <vt:lpstr>Researcher Degrees of Freedom and P-Hacking</vt:lpstr>
      <vt:lpstr>What really are “Researcher Degrees of Freedom?”</vt:lpstr>
      <vt:lpstr>PowerPoint Presentation</vt:lpstr>
      <vt:lpstr>Defining p-Hacking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km2446</dc:creator>
  <cp:lastModifiedBy>km2446</cp:lastModifiedBy>
  <cp:revision>1</cp:revision>
  <dcterms:created xsi:type="dcterms:W3CDTF">2026-02-25T02:43:08Z</dcterms:created>
  <dcterms:modified xsi:type="dcterms:W3CDTF">2026-02-25T12:57:39Z</dcterms:modified>
</cp:coreProperties>
</file>